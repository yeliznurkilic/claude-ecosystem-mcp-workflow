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68" r:id="rId5"/>
    <p:sldId id="269" r:id="rId6"/>
    <p:sldId id="271" r:id="rId7"/>
    <p:sldId id="279" r:id="rId8"/>
    <p:sldId id="284" r:id="rId9"/>
    <p:sldId id="280" r:id="rId10"/>
    <p:sldId id="281" r:id="rId11"/>
    <p:sldId id="283" r:id="rId12"/>
    <p:sldId id="285" r:id="rId13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95" autoAdjust="0"/>
  </p:normalViewPr>
  <p:slideViewPr>
    <p:cSldViewPr snapToGrid="0">
      <p:cViewPr varScale="1">
        <p:scale>
          <a:sx n="44" d="100"/>
          <a:sy n="44" d="100"/>
        </p:scale>
        <p:origin x="53" y="331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20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718D120-DF07-4FC4-8FF7-36B9B322A5BB}" type="datetime1">
              <a:rPr lang="tr-TR" smtClean="0"/>
              <a:t>30.07.2026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6B3739-9081-478F-812E-AE7CE140632E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121049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27B2C0F-3CBE-49E3-8377-4509235FCFAF}" type="datetime1">
              <a:rPr lang="tr-TR" noProof="0" smtClean="0"/>
              <a:t>30.07.2026</a:t>
            </a:fld>
            <a:endParaRPr lang="tr-TR" noProof="0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60CF8BB-EBC7-4B8F-9632-A5A136FBB880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703696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4031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79679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67494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D2E9E-6930-BF11-ACCA-491A7ABF5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45EDAFBF-7251-379E-C951-53DE0781C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6B7A59CD-585E-B531-CACA-BC01DA185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B9EE726-0FFF-1CDF-B996-766AA9D7CA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72382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E336E-0C7E-39D3-B7AD-0DF0BEF7C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3E100AD4-2FE8-32BC-5099-B3B660DCB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94EBC97D-7B67-F838-3143-0D9347518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486F7DE-E227-726F-8E88-725A4E53E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81915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65875-0A64-990C-B3EB-B0FD701DB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01779D2F-19FB-DCEF-F011-5B65734E2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0C7B76E8-5594-DE5A-72BD-0B1581209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FDEB3CF-5D27-E0E7-5E39-CDF85AB103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29360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616A6-9950-870F-932A-AEC7B37D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3891E1B8-7CD9-CFE8-15DF-E35605B79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C2BDCBD6-2B57-AB3B-6844-F75157EE2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ECCC794-8078-0EE4-CB67-9A9BD08E87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28082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83D83-6566-C00B-3C54-7133AE2C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41884378-A5A6-8370-CBEF-2B61AACA3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676FC61C-314D-FB68-9695-CE813807A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FEBD4B7-11E9-D162-379A-81BAEBA912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1210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2BC99-1B74-115D-EBD4-97FBC0314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B8C5B3CD-B3A2-A0DA-AD9C-69DD019EF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FA4C356A-4F2F-6D48-367E-F199784CF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AF74245-08D4-1CA7-12B5-2F859C78F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73994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09600" y="755780"/>
            <a:ext cx="6858000" cy="3200400"/>
          </a:xfrm>
        </p:spPr>
        <p:txBody>
          <a:bodyPr rtlCol="0" anchor="b">
            <a:normAutofit/>
          </a:bodyPr>
          <a:lstStyle>
            <a:lvl1pPr algn="l" rtl="0">
              <a:lnSpc>
                <a:spcPct val="75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noProof="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609600" y="3956180"/>
            <a:ext cx="6858000" cy="109728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tıklayın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12683E-2EE6-4C3E-B389-913055A4CBCC}" type="datetime1">
              <a:rPr lang="tr-TR" noProof="0" smtClean="0"/>
              <a:t>30.07.2026</a:t>
            </a:fld>
            <a:endParaRPr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tr-TR" noProof="0" smtClean="0"/>
              <a:pPr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8880DD48-C30E-4E46-AF89-A5C2CC63CB1C}" type="datetime1">
              <a:rPr lang="tr-TR" noProof="0" smtClean="0"/>
              <a:t>30.07.2026</a:t>
            </a:fld>
            <a:endParaRPr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E31375A4-56A4-47D6-9801-1991572033F7}" type="slidenum">
              <a:rPr lang="tr-TR" noProof="0" smtClean="0"/>
              <a:pPr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822960"/>
            <a:ext cx="8686800" cy="2011680"/>
          </a:xfrm>
        </p:spPr>
        <p:txBody>
          <a:bodyPr rtlCol="0" anchor="b">
            <a:normAutofit/>
          </a:bodyPr>
          <a:lstStyle>
            <a:lvl1pPr rtl="0">
              <a:defRPr sz="6600"/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09600" y="2834640"/>
            <a:ext cx="8686800" cy="109728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981200" y="1981200"/>
            <a:ext cx="4572000" cy="448056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781800" y="1981200"/>
            <a:ext cx="4572000" cy="448056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C6401E-FF51-4657-ABBF-9312B735F809}" type="datetime1">
              <a:rPr lang="tr-TR" noProof="0" smtClean="0"/>
              <a:t>30.07.2026</a:t>
            </a:fld>
            <a:endParaRPr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1981200" y="1679448"/>
            <a:ext cx="4572000" cy="830487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1981200" y="2509935"/>
            <a:ext cx="4572000" cy="396706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TR" noProof="0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781800" y="1679448"/>
            <a:ext cx="4572000" cy="830487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781800" y="2509935"/>
            <a:ext cx="4572000" cy="396706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TR" noProof="0" dirty="0"/>
          </a:p>
        </p:txBody>
      </p:sp>
      <p:sp>
        <p:nvSpPr>
          <p:cNvPr id="7" name="Tarih Yer Tutucusu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02190B-4447-4BC6-9C68-E1A454150CBF}" type="datetime1">
              <a:rPr lang="tr-TR" noProof="0" smtClean="0"/>
              <a:t>30.07.2026</a:t>
            </a:fld>
            <a:endParaRPr lang="tr-TR" noProof="0" dirty="0"/>
          </a:p>
        </p:txBody>
      </p:sp>
      <p:sp>
        <p:nvSpPr>
          <p:cNvPr id="8" name="Alt Bilgi Yer Tutucusu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0345DA-EAEB-4EE5-BA4E-9248CEB40FB8}" type="datetime1">
              <a:rPr lang="tr-TR" noProof="0" smtClean="0"/>
              <a:t>30.07.2026</a:t>
            </a:fld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E5550D-805E-42B5-A9AA-649EA4925523}" type="datetime1">
              <a:rPr lang="tr-TR" noProof="0" smtClean="0"/>
              <a:t>30.07.2026</a:t>
            </a:fld>
            <a:endParaRPr lang="tr-TR" noProof="0" dirty="0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559420" y="408993"/>
            <a:ext cx="4800937" cy="1828800"/>
          </a:xfrm>
        </p:spPr>
        <p:txBody>
          <a:bodyPr rtlCol="0" anchor="b">
            <a:noAutofit/>
          </a:bodyPr>
          <a:lstStyle>
            <a:lvl1pPr rtl="0">
              <a:defRPr sz="4400"/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06491" y="381000"/>
            <a:ext cx="5489510" cy="5791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559420" y="2237793"/>
            <a:ext cx="4800937" cy="18288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C8009C-8EF9-49C2-8401-BFB3ACF450F4}" type="datetime1">
              <a:rPr lang="tr-TR" noProof="0" smtClean="0"/>
              <a:t>30.07.2026</a:t>
            </a:fld>
            <a:endParaRPr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kdörtgen 7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noProof="0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556248" y="384048"/>
            <a:ext cx="4800600" cy="1828800"/>
          </a:xfrm>
        </p:spPr>
        <p:txBody>
          <a:bodyPr rtlCol="0" anchor="b">
            <a:noAutofit/>
          </a:bodyPr>
          <a:lstStyle>
            <a:lvl1pPr rtl="0"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0" y="0"/>
            <a:ext cx="6096000" cy="6858000"/>
          </a:xfrm>
          <a:ln>
            <a:noFill/>
          </a:ln>
        </p:spPr>
        <p:txBody>
          <a:bodyPr tIns="4572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tr-TR" noProof="0"/>
              <a:t>Resim eklemek için simgeye tıklayın</a:t>
            </a:r>
            <a:endParaRPr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556249" y="2240280"/>
            <a:ext cx="4799140" cy="18288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</p:spTree>
    <p:extLst>
      <p:ext uri="{BB962C8B-B14F-4D97-AF65-F5344CB8AC3E}">
        <p14:creationId xmlns:p14="http://schemas.microsoft.com/office/powerpoint/2010/main" val="57120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E5F0A1-5435-4A92-AC6E-E02049B9BA3A}" type="datetime1">
              <a:rPr lang="tr-TR" noProof="0" smtClean="0"/>
              <a:t>30.07.2026</a:t>
            </a:fld>
            <a:endParaRPr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9342120" y="380999"/>
            <a:ext cx="2011680" cy="6096001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1981199" y="380999"/>
            <a:ext cx="7074859" cy="6096001"/>
          </a:xfrm>
        </p:spPr>
        <p:txBody>
          <a:bodyPr vert="eaVert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604B634-9077-4431-AEE9-7BF0DCE84D04}" type="datetime1">
              <a:rPr lang="tr-TR" noProof="0" smtClean="0"/>
              <a:t>30.07.2026</a:t>
            </a:fld>
            <a:endParaRPr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9372600" cy="1295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tr-TR" dirty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1981200" y="1987419"/>
            <a:ext cx="9372600" cy="4483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2"/>
          </p:nvPr>
        </p:nvSpPr>
        <p:spPr>
          <a:xfrm>
            <a:off x="11631790" y="5586761"/>
            <a:ext cx="280731" cy="883759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5625BBDF-5622-4CBE-8A96-9D95313A59FF}" type="datetime1">
              <a:rPr lang="tr-TR" noProof="0" smtClean="0"/>
              <a:t>30.07.2026</a:t>
            </a:fld>
            <a:endParaRPr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3"/>
          </p:nvPr>
        </p:nvSpPr>
        <p:spPr>
          <a:xfrm>
            <a:off x="11631790" y="365125"/>
            <a:ext cx="280730" cy="5139936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313321" y="6268940"/>
            <a:ext cx="722377" cy="201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E31375A4-56A4-47D6-9801-1991572033F7}" type="slidenum">
              <a:rPr lang="tr-TR" noProof="0" smtClean="0"/>
              <a:pPr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baseline="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74320" algn="l" defTabSz="914400" rtl="0" eaLnBrk="1" latinLnBrk="0" hangingPunct="1">
        <a:lnSpc>
          <a:spcPct val="90000"/>
        </a:lnSpc>
        <a:spcBef>
          <a:spcPts val="1200"/>
        </a:spcBef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09600" y="755780"/>
            <a:ext cx="11582400" cy="3200400"/>
          </a:xfrm>
        </p:spPr>
        <p:txBody>
          <a:bodyPr rtlCol="0">
            <a:normAutofit/>
          </a:bodyPr>
          <a:lstStyle/>
          <a:p>
            <a:r>
              <a:rPr lang="tr-TR" sz="5400" dirty="0"/>
              <a:t>Claude Ekosistemi: </a:t>
            </a:r>
            <a:r>
              <a:rPr lang="tr-TR" sz="5400" dirty="0" err="1"/>
              <a:t>Skill'ler</a:t>
            </a:r>
            <a:r>
              <a:rPr lang="tr-TR" sz="5400" dirty="0"/>
              <a:t>, MCP, </a:t>
            </a:r>
            <a:r>
              <a:rPr lang="tr-TR" sz="5400" dirty="0" err="1"/>
              <a:t>Prompt</a:t>
            </a:r>
            <a:r>
              <a:rPr lang="tr-TR" sz="5400" dirty="0"/>
              <a:t> Teknikleri ve </a:t>
            </a:r>
            <a:r>
              <a:rPr lang="tr-TR" sz="5400" dirty="0" err="1"/>
              <a:t>Workflow</a:t>
            </a:r>
            <a:r>
              <a:rPr lang="tr-TR" sz="5400" dirty="0"/>
              <a:t> Tasarımları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tr-TR" dirty="0"/>
              <a:t>Kurumsal Yapay Zekâ Asistan Mimarisi ve Uygulama</a:t>
            </a:r>
          </a:p>
        </p:txBody>
      </p:sp>
      <p:sp>
        <p:nvSpPr>
          <p:cNvPr id="4" name="Alt Başlık 2">
            <a:extLst>
              <a:ext uri="{FF2B5EF4-FFF2-40B4-BE49-F238E27FC236}">
                <a16:creationId xmlns:a16="http://schemas.microsoft.com/office/drawing/2014/main" id="{A6059887-E63A-4FF5-A68C-B7112702587B}"/>
              </a:ext>
            </a:extLst>
          </p:cNvPr>
          <p:cNvSpPr txBox="1">
            <a:spLocks/>
          </p:cNvSpPr>
          <p:nvPr/>
        </p:nvSpPr>
        <p:spPr>
          <a:xfrm>
            <a:off x="609600" y="5004940"/>
            <a:ext cx="8253046" cy="2661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SzPct val="1000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tr-TR" b="1" dirty="0"/>
              <a:t>Sunan / Görev:</a:t>
            </a:r>
            <a:r>
              <a:rPr lang="tr-TR" dirty="0"/>
              <a:t> Yeliz Nur Kılıç | DDYO Staj Araştırma Görevi</a:t>
            </a:r>
            <a:endParaRPr lang="tr-TR" b="1" dirty="0"/>
          </a:p>
          <a:p>
            <a:pPr lvl="0"/>
            <a:r>
              <a:rPr lang="tr-TR" b="1" dirty="0"/>
              <a:t>Tarih:</a:t>
            </a:r>
            <a:r>
              <a:rPr lang="tr-TR" dirty="0"/>
              <a:t> 30.07.2026</a:t>
            </a:r>
          </a:p>
          <a:p>
            <a:pPr lv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1325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Amaç ve kapsam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lang="tr-TR" b="1" dirty="0" err="1"/>
              <a:t>Amac</a:t>
            </a:r>
            <a:r>
              <a:rPr lang="tr-TR" b="1" dirty="0"/>
              <a:t>:</a:t>
            </a:r>
            <a:r>
              <a:rPr lang="tr-TR" dirty="0"/>
              <a:t> Claude yapay zekâ modelini sadece bir </a:t>
            </a:r>
            <a:r>
              <a:rPr lang="tr-TR" dirty="0" err="1"/>
              <a:t>chat</a:t>
            </a:r>
            <a:r>
              <a:rPr lang="tr-TR" dirty="0"/>
              <a:t> aracı olarak değil, şirket içi sistemlerle konuşan otonom bir "dijital asistan" haline getirecek mimarileri incelemek.</a:t>
            </a:r>
          </a:p>
          <a:p>
            <a:pPr lvl="0"/>
            <a:r>
              <a:rPr lang="tr-TR" b="1" dirty="0"/>
              <a:t>Kapsam:</a:t>
            </a:r>
            <a:endParaRPr lang="tr-TR" dirty="0"/>
          </a:p>
          <a:p>
            <a:pPr lvl="1"/>
            <a:r>
              <a:rPr lang="tr-TR" dirty="0"/>
              <a:t>Claude </a:t>
            </a:r>
            <a:r>
              <a:rPr lang="tr-TR" dirty="0" err="1"/>
              <a:t>Skill</a:t>
            </a:r>
            <a:r>
              <a:rPr lang="tr-TR" dirty="0"/>
              <a:t> (Yetenek) Kullanımı</a:t>
            </a:r>
          </a:p>
          <a:p>
            <a:pPr lvl="1"/>
            <a:r>
              <a:rPr lang="tr-TR" dirty="0"/>
              <a:t>Model </a:t>
            </a:r>
            <a:r>
              <a:rPr lang="tr-TR" dirty="0" err="1"/>
              <a:t>Context</a:t>
            </a:r>
            <a:r>
              <a:rPr lang="tr-TR" dirty="0"/>
              <a:t> Protocol (MCP) Standartları</a:t>
            </a:r>
          </a:p>
          <a:p>
            <a:pPr lvl="1"/>
            <a:r>
              <a:rPr lang="tr-TR" dirty="0"/>
              <a:t>İleri Seviye </a:t>
            </a:r>
            <a:r>
              <a:rPr lang="tr-TR" dirty="0" err="1"/>
              <a:t>Prompt</a:t>
            </a:r>
            <a:r>
              <a:rPr lang="tr-TR" dirty="0"/>
              <a:t> Mühendisliği (</a:t>
            </a:r>
            <a:r>
              <a:rPr lang="tr-TR" dirty="0" err="1"/>
              <a:t>CoT</a:t>
            </a:r>
            <a:r>
              <a:rPr lang="tr-TR" dirty="0"/>
              <a:t>, XML </a:t>
            </a:r>
            <a:r>
              <a:rPr lang="tr-TR" dirty="0" err="1"/>
              <a:t>Tagging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Kurumsal </a:t>
            </a:r>
            <a:r>
              <a:rPr lang="tr-TR" dirty="0" err="1"/>
              <a:t>Workflow</a:t>
            </a:r>
            <a:r>
              <a:rPr lang="tr-TR" dirty="0"/>
              <a:t> (İş Akışı) Tasarımları</a:t>
            </a:r>
          </a:p>
        </p:txBody>
      </p:sp>
    </p:spTree>
    <p:extLst>
      <p:ext uri="{BB962C8B-B14F-4D97-AF65-F5344CB8AC3E}">
        <p14:creationId xmlns:p14="http://schemas.microsoft.com/office/powerpoint/2010/main" val="252333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10081846" cy="1295400"/>
          </a:xfrm>
        </p:spPr>
        <p:txBody>
          <a:bodyPr rtlCol="0"/>
          <a:lstStyle/>
          <a:p>
            <a:r>
              <a:rPr lang="tr-TR" dirty="0"/>
              <a:t>Claude Ekosistemi Temel Bileşenleri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981200" y="1981200"/>
            <a:ext cx="8692662" cy="5509846"/>
          </a:xfrm>
        </p:spPr>
        <p:txBody>
          <a:bodyPr rtlCol="0">
            <a:normAutofit/>
          </a:bodyPr>
          <a:lstStyle/>
          <a:p>
            <a:pPr lvl="0"/>
            <a:r>
              <a:rPr lang="tr-TR" b="1" dirty="0"/>
              <a:t>Claude </a:t>
            </a:r>
            <a:r>
              <a:rPr lang="tr-TR" b="1" dirty="0" err="1"/>
              <a:t>Skills</a:t>
            </a:r>
            <a:r>
              <a:rPr lang="tr-TR" b="1" dirty="0"/>
              <a:t> (Yetenekler):</a:t>
            </a:r>
            <a:r>
              <a:rPr lang="tr-TR" dirty="0"/>
              <a:t> Modelin Python kodu çalıştırma, .pdf / .</a:t>
            </a:r>
            <a:r>
              <a:rPr lang="tr-TR" dirty="0" err="1"/>
              <a:t>docx</a:t>
            </a:r>
            <a:r>
              <a:rPr lang="tr-TR" dirty="0"/>
              <a:t> raporları oluşturma ve karmaşık veri analizi yapabilme yeteneği.</a:t>
            </a:r>
          </a:p>
          <a:p>
            <a:pPr lvl="0"/>
            <a:r>
              <a:rPr lang="tr-TR" b="1" dirty="0"/>
              <a:t>MCP (Model </a:t>
            </a:r>
            <a:r>
              <a:rPr lang="tr-TR" b="1" dirty="0" err="1"/>
              <a:t>Context</a:t>
            </a:r>
            <a:r>
              <a:rPr lang="tr-TR" b="1" dirty="0"/>
              <a:t> Protocol):</a:t>
            </a:r>
            <a:r>
              <a:rPr lang="tr-TR" dirty="0"/>
              <a:t> </a:t>
            </a:r>
            <a:r>
              <a:rPr lang="tr-TR" dirty="0" err="1"/>
              <a:t>LLM'ler</a:t>
            </a:r>
            <a:r>
              <a:rPr lang="tr-TR" dirty="0"/>
              <a:t> ile şirket </a:t>
            </a:r>
            <a:r>
              <a:rPr lang="tr-TR" dirty="0" err="1"/>
              <a:t>veritabanları</a:t>
            </a:r>
            <a:r>
              <a:rPr lang="tr-TR" dirty="0"/>
              <a:t> (</a:t>
            </a:r>
            <a:r>
              <a:rPr lang="tr-TR" dirty="0" err="1"/>
              <a:t>PostgreSQL</a:t>
            </a:r>
            <a:r>
              <a:rPr lang="tr-TR" dirty="0"/>
              <a:t>, </a:t>
            </a:r>
            <a:r>
              <a:rPr lang="tr-TR" dirty="0" err="1"/>
              <a:t>GitHub</a:t>
            </a:r>
            <a:r>
              <a:rPr lang="tr-TR" dirty="0"/>
              <a:t>, </a:t>
            </a:r>
            <a:r>
              <a:rPr lang="tr-TR" dirty="0" err="1"/>
              <a:t>Slack</a:t>
            </a:r>
            <a:r>
              <a:rPr lang="tr-TR" dirty="0"/>
              <a:t>) arasında güvenli ve standart bir iletişim kuran ikili (Client-Server) açık protokol.</a:t>
            </a:r>
          </a:p>
          <a:p>
            <a:pPr lvl="0"/>
            <a:r>
              <a:rPr lang="tr-TR" b="1" dirty="0"/>
              <a:t>Ajan Yaklaşımı:</a:t>
            </a:r>
            <a:r>
              <a:rPr lang="tr-TR" dirty="0"/>
              <a:t> Tekil soru-cevap yerine harici araçları ve verileri kullanarak problem çözen otonom yapı.</a:t>
            </a:r>
          </a:p>
          <a:p>
            <a:pPr lvl="0"/>
            <a:r>
              <a:rPr lang="tr-TR" b="1" dirty="0"/>
              <a:t>Gelişmiş </a:t>
            </a:r>
            <a:r>
              <a:rPr lang="tr-TR" b="1" dirty="0" err="1"/>
              <a:t>Prompt</a:t>
            </a:r>
            <a:r>
              <a:rPr lang="tr-TR" b="1" dirty="0"/>
              <a:t> Mühendisliği:</a:t>
            </a:r>
            <a:r>
              <a:rPr lang="tr-TR" dirty="0"/>
              <a:t> Zero-</a:t>
            </a:r>
            <a:r>
              <a:rPr lang="tr-TR" dirty="0" err="1"/>
              <a:t>Shot</a:t>
            </a:r>
            <a:r>
              <a:rPr lang="tr-TR" dirty="0"/>
              <a:t>, </a:t>
            </a:r>
            <a:r>
              <a:rPr lang="tr-TR" dirty="0" err="1"/>
              <a:t>Few-Shot</a:t>
            </a:r>
            <a:r>
              <a:rPr lang="tr-TR" dirty="0"/>
              <a:t>, </a:t>
            </a:r>
            <a:r>
              <a:rPr lang="tr-TR" dirty="0" err="1"/>
              <a:t>Chain</a:t>
            </a:r>
            <a:r>
              <a:rPr lang="tr-TR" dirty="0"/>
              <a:t>-of-</a:t>
            </a:r>
            <a:r>
              <a:rPr lang="tr-TR" dirty="0" err="1"/>
              <a:t>Thought</a:t>
            </a:r>
            <a:r>
              <a:rPr lang="tr-TR" dirty="0"/>
              <a:t> (</a:t>
            </a:r>
            <a:r>
              <a:rPr lang="tr-TR" dirty="0" err="1"/>
              <a:t>CoT</a:t>
            </a:r>
            <a:r>
              <a:rPr lang="tr-TR" dirty="0"/>
              <a:t>) ve </a:t>
            </a:r>
            <a:r>
              <a:rPr lang="tr-TR" dirty="0" err="1"/>
              <a:t>Structured</a:t>
            </a:r>
            <a:r>
              <a:rPr lang="tr-TR" dirty="0"/>
              <a:t> XML etiketleme. </a:t>
            </a:r>
          </a:p>
          <a:p>
            <a:pPr lvl="0"/>
            <a:r>
              <a:rPr lang="tr-TR" b="1" dirty="0" err="1"/>
              <a:t>Workflow</a:t>
            </a:r>
            <a:r>
              <a:rPr lang="tr-TR" b="1" dirty="0"/>
              <a:t> (İş Akışı):</a:t>
            </a:r>
            <a:r>
              <a:rPr lang="tr-TR" dirty="0"/>
              <a:t> Çok adımlı otomasyon zincirleri (</a:t>
            </a:r>
            <a:r>
              <a:rPr lang="tr-TR" dirty="0" err="1"/>
              <a:t>Pipeline</a:t>
            </a:r>
            <a:r>
              <a:rPr lang="tr-T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1983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9B701-DAA9-F128-33B9-75BE5B550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708641B-FCDC-7EDB-2795-D73D80C4A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"/>
            <a:ext cx="10081846" cy="1295400"/>
          </a:xfrm>
        </p:spPr>
        <p:txBody>
          <a:bodyPr rtlCol="0"/>
          <a:lstStyle/>
          <a:p>
            <a:r>
              <a:rPr lang="tr-TR" dirty="0" err="1"/>
              <a:t>Prompt</a:t>
            </a:r>
            <a:r>
              <a:rPr lang="tr-TR" dirty="0"/>
              <a:t> Teknikleri Karşılaştırma Testi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7E436CF-E047-9B13-6CF5-AA75D3026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1200" y="1981200"/>
            <a:ext cx="8692662" cy="4480560"/>
          </a:xfrm>
        </p:spPr>
        <p:txBody>
          <a:bodyPr rtlCol="0">
            <a:normAutofit/>
          </a:bodyPr>
          <a:lstStyle/>
          <a:p>
            <a:pPr lvl="0"/>
            <a:r>
              <a:rPr lang="tr-TR" b="1" dirty="0"/>
              <a:t>Senaryo:</a:t>
            </a:r>
            <a:r>
              <a:rPr lang="tr-TR" dirty="0"/>
              <a:t> SLA ihlali, 3 günlük kesinti, abonelik iptali ve yasal dava tehdidi içeren kriz e-postası analizi. </a:t>
            </a:r>
          </a:p>
          <a:p>
            <a:pPr lvl="0"/>
            <a:r>
              <a:rPr lang="tr-TR" b="1" dirty="0"/>
              <a:t>Sonuçlar:</a:t>
            </a:r>
            <a:endParaRPr lang="tr-TR" dirty="0"/>
          </a:p>
          <a:p>
            <a:pPr lvl="1"/>
            <a:r>
              <a:rPr lang="tr-TR" b="1" dirty="0"/>
              <a:t>Zero-</a:t>
            </a:r>
            <a:r>
              <a:rPr lang="tr-TR" b="1" dirty="0" err="1"/>
              <a:t>Shot</a:t>
            </a:r>
            <a:r>
              <a:rPr lang="tr-TR" b="1" dirty="0"/>
              <a:t> (Düz İstem):</a:t>
            </a:r>
            <a:r>
              <a:rPr lang="tr-TR" dirty="0"/>
              <a:t> Sezgisel risk puanı (9/10), formatsız serbest metin, otomasyona uygun değil.</a:t>
            </a:r>
          </a:p>
          <a:p>
            <a:pPr lvl="1"/>
            <a:r>
              <a:rPr lang="tr-TR" b="1" dirty="0" err="1"/>
              <a:t>Few-Shot</a:t>
            </a:r>
            <a:r>
              <a:rPr lang="tr-TR" b="1" dirty="0"/>
              <a:t> (Örnekli İstem):</a:t>
            </a:r>
            <a:r>
              <a:rPr lang="tr-TR" dirty="0"/>
              <a:t> Biçimsel uyum yüksek (%100 şablon), ancak analitik derinlik ve kriz yönetimi esnekliği yetersiz.</a:t>
            </a:r>
          </a:p>
          <a:p>
            <a:pPr lvl="1"/>
            <a:r>
              <a:rPr lang="tr-TR" b="1" dirty="0"/>
              <a:t>XML + </a:t>
            </a:r>
            <a:r>
              <a:rPr lang="tr-TR" b="1" dirty="0" err="1"/>
              <a:t>CoT</a:t>
            </a:r>
            <a:r>
              <a:rPr lang="tr-TR" b="1" dirty="0"/>
              <a:t> (Adım Adım Düşünme):</a:t>
            </a:r>
            <a:r>
              <a:rPr lang="tr-TR" dirty="0"/>
              <a:t> &lt;</a:t>
            </a:r>
            <a:r>
              <a:rPr lang="tr-TR" dirty="0" err="1"/>
              <a:t>thinking</a:t>
            </a:r>
            <a:r>
              <a:rPr lang="tr-TR" dirty="0"/>
              <a:t>&gt; etiketinde SLA ve finansal risk analizi; analitik </a:t>
            </a:r>
            <a:r>
              <a:rPr lang="tr-TR" b="1" dirty="0"/>
              <a:t>63/100 Risk Skoru</a:t>
            </a:r>
            <a:r>
              <a:rPr lang="tr-TR" dirty="0"/>
              <a:t> (Hukuki: 65, Finansal: 70) ve resmi kriz yanıtı. </a:t>
            </a:r>
          </a:p>
        </p:txBody>
      </p:sp>
    </p:spTree>
    <p:extLst>
      <p:ext uri="{BB962C8B-B14F-4D97-AF65-F5344CB8AC3E}">
        <p14:creationId xmlns:p14="http://schemas.microsoft.com/office/powerpoint/2010/main" val="2390395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E9310-5EB3-A931-C83E-73B2EBD64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5A75B85-98C0-7A3F-D349-3C9743388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"/>
            <a:ext cx="10081846" cy="1295400"/>
          </a:xfrm>
        </p:spPr>
        <p:txBody>
          <a:bodyPr rtlCol="0"/>
          <a:lstStyle/>
          <a:p>
            <a:r>
              <a:rPr lang="tr-TR" dirty="0" err="1"/>
              <a:t>Prompt</a:t>
            </a:r>
            <a:r>
              <a:rPr lang="tr-TR" dirty="0"/>
              <a:t> Teknikleri Karşılaştırma Testi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A5DBEA6-C0DA-A32A-D6DA-4D14B170F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1200" y="1981200"/>
            <a:ext cx="8692662" cy="4480560"/>
          </a:xfrm>
        </p:spPr>
        <p:txBody>
          <a:bodyPr rtlCol="0">
            <a:normAutofit/>
          </a:bodyPr>
          <a:lstStyle/>
          <a:p>
            <a:pPr lvl="0"/>
            <a:r>
              <a:rPr lang="tr-TR" b="1" dirty="0"/>
              <a:t>Senaryo:</a:t>
            </a:r>
            <a:r>
              <a:rPr lang="tr-TR" dirty="0"/>
              <a:t> Kritik API kesintisi yaşayan krizdeki bir müşterinin e-posta analizi ve yanıt taslağı.</a:t>
            </a:r>
          </a:p>
          <a:p>
            <a:pPr lvl="0"/>
            <a:r>
              <a:rPr lang="tr-TR" b="1" dirty="0"/>
              <a:t>Sonuçlar:</a:t>
            </a:r>
            <a:endParaRPr lang="tr-TR" dirty="0"/>
          </a:p>
          <a:p>
            <a:pPr lvl="1"/>
            <a:r>
              <a:rPr lang="tr-TR" b="1" dirty="0"/>
              <a:t>Düz İstem (Zero-</a:t>
            </a:r>
            <a:r>
              <a:rPr lang="tr-TR" b="1" dirty="0" err="1"/>
              <a:t>Shot</a:t>
            </a:r>
            <a:r>
              <a:rPr lang="tr-TR" b="1" dirty="0"/>
              <a:t>):</a:t>
            </a:r>
            <a:r>
              <a:rPr lang="tr-TR" dirty="0"/>
              <a:t> Yüzeysel, risk kriteri belirsiz, kurumsal dilden uzak.</a:t>
            </a:r>
          </a:p>
          <a:p>
            <a:pPr lvl="1"/>
            <a:r>
              <a:rPr lang="tr-TR" b="1" dirty="0"/>
              <a:t>Örnekli İstem (</a:t>
            </a:r>
            <a:r>
              <a:rPr lang="tr-TR" b="1" dirty="0" err="1"/>
              <a:t>Few-Shot</a:t>
            </a:r>
            <a:r>
              <a:rPr lang="tr-TR" b="1" dirty="0"/>
              <a:t>):</a:t>
            </a:r>
            <a:r>
              <a:rPr lang="tr-TR" dirty="0"/>
              <a:t> Belli bir kalıba oturmuş ancak esneklikten yoksun.</a:t>
            </a:r>
          </a:p>
          <a:p>
            <a:pPr lvl="1"/>
            <a:r>
              <a:rPr lang="tr-TR" b="1" dirty="0" err="1"/>
              <a:t>CoT</a:t>
            </a:r>
            <a:r>
              <a:rPr lang="tr-TR" b="1" dirty="0"/>
              <a:t> + XML Etiketli İstem:</a:t>
            </a:r>
            <a:r>
              <a:rPr lang="tr-TR" dirty="0"/>
              <a:t> &lt;</a:t>
            </a:r>
            <a:r>
              <a:rPr lang="tr-TR" dirty="0" err="1"/>
              <a:t>thinking</a:t>
            </a:r>
            <a:r>
              <a:rPr lang="tr-TR" dirty="0"/>
              <a:t>&gt; etiketiyle adım adım düşünme sağlandı; risk skoru (92/100) doğru hesaplandı ve mükemmel kriz yanıtı üretildi.</a:t>
            </a:r>
          </a:p>
        </p:txBody>
      </p:sp>
    </p:spTree>
    <p:extLst>
      <p:ext uri="{BB962C8B-B14F-4D97-AF65-F5344CB8AC3E}">
        <p14:creationId xmlns:p14="http://schemas.microsoft.com/office/powerpoint/2010/main" val="9418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F35ED-7A45-D19A-0086-FE5F5BF2A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312873E-8916-634A-B585-35248F86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"/>
            <a:ext cx="10210800" cy="1295400"/>
          </a:xfrm>
        </p:spPr>
        <p:txBody>
          <a:bodyPr rtlCol="0"/>
          <a:lstStyle/>
          <a:p>
            <a:r>
              <a:rPr lang="tr-TR" dirty="0"/>
              <a:t>Önerilen Kurumsal MCP Entegrasyonları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756E4D5-DBDA-22B2-D6BA-22DD542288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1200" y="1981200"/>
            <a:ext cx="8692662" cy="4480560"/>
          </a:xfrm>
        </p:spPr>
        <p:txBody>
          <a:bodyPr rtlCol="0">
            <a:normAutofit/>
          </a:bodyPr>
          <a:lstStyle/>
          <a:p>
            <a:pPr marL="0" lvl="0" indent="0">
              <a:buNone/>
            </a:pPr>
            <a:r>
              <a:rPr lang="tr-TR" b="1" dirty="0"/>
              <a:t>1. </a:t>
            </a:r>
            <a:r>
              <a:rPr lang="tr-TR" b="1" dirty="0" err="1"/>
              <a:t>PostgreSQL</a:t>
            </a:r>
            <a:r>
              <a:rPr lang="tr-TR" b="1" dirty="0"/>
              <a:t> MCP Sunucusu:</a:t>
            </a:r>
            <a:r>
              <a:rPr lang="tr-TR" dirty="0"/>
              <a:t> Sadece okuma (Read-</a:t>
            </a:r>
            <a:r>
              <a:rPr lang="tr-TR" dirty="0" err="1"/>
              <a:t>Only</a:t>
            </a:r>
            <a:r>
              <a:rPr lang="tr-TR" dirty="0"/>
              <a:t>) yetkisiyle Claude'un iş birimlerine doğal dille </a:t>
            </a:r>
            <a:r>
              <a:rPr lang="tr-TR" dirty="0" err="1"/>
              <a:t>veritabanı</a:t>
            </a:r>
            <a:r>
              <a:rPr lang="tr-TR" dirty="0"/>
              <a:t> analizi sunması.</a:t>
            </a:r>
          </a:p>
          <a:p>
            <a:pPr marL="0" lvl="0" indent="0">
              <a:buNone/>
            </a:pPr>
            <a:r>
              <a:rPr lang="tr-TR" b="1" dirty="0"/>
              <a:t>2. </a:t>
            </a:r>
            <a:r>
              <a:rPr lang="tr-TR" b="1" dirty="0" err="1"/>
              <a:t>GitHub</a:t>
            </a:r>
            <a:r>
              <a:rPr lang="tr-TR" b="1" dirty="0"/>
              <a:t> MCP Sunucusu:</a:t>
            </a:r>
            <a:r>
              <a:rPr lang="tr-TR" dirty="0"/>
              <a:t> Yazılım ekipleri için kod inceleme (</a:t>
            </a:r>
            <a:r>
              <a:rPr lang="tr-TR" dirty="0" err="1"/>
              <a:t>Code</a:t>
            </a:r>
            <a:r>
              <a:rPr lang="tr-TR" dirty="0"/>
              <a:t> </a:t>
            </a:r>
            <a:r>
              <a:rPr lang="tr-TR" dirty="0" err="1"/>
              <a:t>Review</a:t>
            </a:r>
            <a:r>
              <a:rPr lang="tr-TR" dirty="0"/>
              <a:t>) ve güvenlik açıklarını otomatik tespit etme entegrasyonu.</a:t>
            </a:r>
          </a:p>
          <a:p>
            <a:pPr marL="0" lvl="0" indent="0">
              <a:buNone/>
            </a:pPr>
            <a:r>
              <a:rPr lang="tr-TR" b="1" dirty="0"/>
              <a:t>3. Müşteri Analizi </a:t>
            </a:r>
            <a:r>
              <a:rPr lang="tr-TR" b="1" dirty="0" err="1"/>
              <a:t>Skill'i</a:t>
            </a:r>
            <a:r>
              <a:rPr lang="tr-TR" b="1" dirty="0"/>
              <a:t>:</a:t>
            </a:r>
            <a:r>
              <a:rPr lang="tr-TR" dirty="0"/>
              <a:t> Ham müşteri bildirimlerinden otomatik grafikli PDF/Excel raporları üreten özel yetenek.</a:t>
            </a:r>
          </a:p>
        </p:txBody>
      </p:sp>
    </p:spTree>
    <p:extLst>
      <p:ext uri="{BB962C8B-B14F-4D97-AF65-F5344CB8AC3E}">
        <p14:creationId xmlns:p14="http://schemas.microsoft.com/office/powerpoint/2010/main" val="29939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B3866-C119-96BD-ED94-447AF880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35E4C60-210F-3013-8C66-C97D1677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"/>
            <a:ext cx="9976338" cy="1295400"/>
          </a:xfrm>
        </p:spPr>
        <p:txBody>
          <a:bodyPr rtlCol="0"/>
          <a:lstStyle/>
          <a:p>
            <a:r>
              <a:rPr lang="tr-TR" dirty="0"/>
              <a:t>Kurumsal </a:t>
            </a:r>
            <a:r>
              <a:rPr lang="tr-TR" dirty="0" err="1"/>
              <a:t>Workflow</a:t>
            </a:r>
            <a:r>
              <a:rPr lang="tr-TR" dirty="0"/>
              <a:t> (İş Akışı) </a:t>
            </a:r>
            <a:r>
              <a:rPr lang="tr-TR" dirty="0" err="1"/>
              <a:t>ÖrnekleRİ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78D0FB1-607B-1B49-7A24-DDAB1BCF4F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1200" y="1981200"/>
            <a:ext cx="8692662" cy="4480560"/>
          </a:xfrm>
        </p:spPr>
        <p:txBody>
          <a:bodyPr rtlCol="0">
            <a:normAutofit/>
          </a:bodyPr>
          <a:lstStyle/>
          <a:p>
            <a:pPr lvl="0"/>
            <a:r>
              <a:rPr lang="tr-TR" b="1" dirty="0" err="1"/>
              <a:t>Workflow</a:t>
            </a:r>
            <a:r>
              <a:rPr lang="tr-TR" b="1" dirty="0"/>
              <a:t> 1 (Yazılım Hata Analizi):</a:t>
            </a:r>
            <a:r>
              <a:rPr lang="tr-TR" dirty="0"/>
              <a:t>Hata Kaydı ➔ </a:t>
            </a:r>
            <a:r>
              <a:rPr lang="tr-TR" dirty="0" err="1"/>
              <a:t>GitHub</a:t>
            </a:r>
            <a:r>
              <a:rPr lang="tr-TR" dirty="0"/>
              <a:t> MCP ➔ </a:t>
            </a:r>
            <a:r>
              <a:rPr lang="tr-TR" dirty="0" err="1"/>
              <a:t>CoT</a:t>
            </a:r>
            <a:r>
              <a:rPr lang="tr-TR" dirty="0"/>
              <a:t> Analizi ➔ </a:t>
            </a:r>
            <a:r>
              <a:rPr lang="tr-TR" dirty="0" err="1"/>
              <a:t>Refactored</a:t>
            </a:r>
            <a:r>
              <a:rPr lang="tr-TR" dirty="0"/>
              <a:t> Kod &amp; Python </a:t>
            </a:r>
            <a:r>
              <a:rPr lang="tr-TR" dirty="0" err="1"/>
              <a:t>Unit</a:t>
            </a:r>
            <a:r>
              <a:rPr lang="tr-TR" dirty="0"/>
              <a:t> Test</a:t>
            </a:r>
          </a:p>
          <a:p>
            <a:pPr lvl="0"/>
            <a:r>
              <a:rPr lang="tr-TR" b="1" dirty="0" err="1"/>
              <a:t>Workflow</a:t>
            </a:r>
            <a:r>
              <a:rPr lang="tr-TR" b="1" dirty="0"/>
              <a:t> 2 (Müşteri Kriz Yönetimi):</a:t>
            </a:r>
            <a:r>
              <a:rPr lang="tr-TR" dirty="0"/>
              <a:t>Gelen E-posta ➔ </a:t>
            </a:r>
            <a:r>
              <a:rPr lang="tr-TR" dirty="0" err="1"/>
              <a:t>PostgreSQL</a:t>
            </a:r>
            <a:r>
              <a:rPr lang="tr-TR" dirty="0"/>
              <a:t> MCP (SLA/Fatura) ➔ Risk Skoru Hesabı ➔ Risk &gt; 60 İse Kriz Protokolü &amp; Yönetim Raporu</a:t>
            </a:r>
          </a:p>
        </p:txBody>
      </p:sp>
    </p:spTree>
    <p:extLst>
      <p:ext uri="{BB962C8B-B14F-4D97-AF65-F5344CB8AC3E}">
        <p14:creationId xmlns:p14="http://schemas.microsoft.com/office/powerpoint/2010/main" val="1213532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41AE9-803A-544E-19BB-2023C2ABC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68D8DC3-1BEF-7A1C-2744-B6FA3E1D0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"/>
            <a:ext cx="9976338" cy="1295400"/>
          </a:xfrm>
        </p:spPr>
        <p:txBody>
          <a:bodyPr rtlCol="0"/>
          <a:lstStyle/>
          <a:p>
            <a:r>
              <a:rPr lang="tr-TR" dirty="0"/>
              <a:t>Güvenlik, KVKK ve Sonraki Adımlar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3E7F2AB-CEDC-078D-2ABC-CD2D4DCBA4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1200" y="1981200"/>
            <a:ext cx="8692662" cy="4480560"/>
          </a:xfrm>
        </p:spPr>
        <p:txBody>
          <a:bodyPr rtlCol="0">
            <a:normAutofit/>
          </a:bodyPr>
          <a:lstStyle/>
          <a:p>
            <a:pPr lvl="0"/>
            <a:r>
              <a:rPr lang="tr-TR" b="1" dirty="0"/>
              <a:t>KVKK / GDPR Uyum:</a:t>
            </a:r>
            <a:r>
              <a:rPr lang="tr-TR" dirty="0"/>
              <a:t> Hassas verilerin (PII) maskelenmesi; </a:t>
            </a:r>
            <a:r>
              <a:rPr lang="tr-TR" dirty="0" err="1"/>
              <a:t>Anthropic</a:t>
            </a:r>
            <a:r>
              <a:rPr lang="tr-TR" dirty="0"/>
              <a:t> Enterprise "No-Training </a:t>
            </a:r>
            <a:r>
              <a:rPr lang="tr-TR" dirty="0" err="1"/>
              <a:t>Policy</a:t>
            </a:r>
            <a:r>
              <a:rPr lang="tr-TR" dirty="0"/>
              <a:t>" garantisi. </a:t>
            </a:r>
          </a:p>
          <a:p>
            <a:pPr lvl="0"/>
            <a:r>
              <a:rPr lang="tr-TR" b="1" dirty="0"/>
              <a:t>MCP Erişim Güvenliği:</a:t>
            </a:r>
            <a:r>
              <a:rPr lang="tr-TR" dirty="0"/>
              <a:t> </a:t>
            </a:r>
            <a:r>
              <a:rPr lang="tr-TR" dirty="0" err="1"/>
              <a:t>Superadmin</a:t>
            </a:r>
            <a:r>
              <a:rPr lang="tr-TR" dirty="0"/>
              <a:t> yerine en az yetki prensibi (</a:t>
            </a:r>
            <a:r>
              <a:rPr lang="tr-TR" i="1" dirty="0" err="1"/>
              <a:t>Least</a:t>
            </a:r>
            <a:r>
              <a:rPr lang="tr-TR" i="1" dirty="0"/>
              <a:t> </a:t>
            </a:r>
            <a:r>
              <a:rPr lang="tr-TR" i="1" dirty="0" err="1"/>
              <a:t>Privilege</a:t>
            </a:r>
            <a:r>
              <a:rPr lang="tr-TR" dirty="0"/>
              <a:t>) ve </a:t>
            </a:r>
            <a:r>
              <a:rPr lang="tr-TR" i="1" dirty="0"/>
              <a:t>Read-</a:t>
            </a:r>
            <a:r>
              <a:rPr lang="tr-TR" i="1" dirty="0" err="1"/>
              <a:t>Only</a:t>
            </a:r>
            <a:r>
              <a:rPr lang="tr-TR" dirty="0"/>
              <a:t> erişim. </a:t>
            </a:r>
          </a:p>
          <a:p>
            <a:pPr lvl="0"/>
            <a:r>
              <a:rPr lang="tr-TR" b="1" dirty="0"/>
              <a:t>Halüsinasyon Önleme:</a:t>
            </a:r>
            <a:r>
              <a:rPr lang="tr-TR" dirty="0"/>
              <a:t> Kritik kararlarda ve yüksek riskli vakalarda insan onayı (</a:t>
            </a:r>
            <a:r>
              <a:rPr lang="tr-TR" i="1" dirty="0"/>
              <a:t>Human-in-</a:t>
            </a:r>
            <a:r>
              <a:rPr lang="tr-TR" i="1" dirty="0" err="1"/>
              <a:t>the</a:t>
            </a:r>
            <a:r>
              <a:rPr lang="tr-TR" i="1" dirty="0"/>
              <a:t>-</a:t>
            </a:r>
            <a:r>
              <a:rPr lang="tr-TR" i="1" dirty="0" err="1"/>
              <a:t>Loop</a:t>
            </a:r>
            <a:r>
              <a:rPr lang="tr-TR" dirty="0"/>
              <a:t>) zorunluluğu. </a:t>
            </a:r>
          </a:p>
        </p:txBody>
      </p:sp>
    </p:spTree>
    <p:extLst>
      <p:ext uri="{BB962C8B-B14F-4D97-AF65-F5344CB8AC3E}">
        <p14:creationId xmlns:p14="http://schemas.microsoft.com/office/powerpoint/2010/main" val="136156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27891-269E-B7F5-C33E-F550B22E6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CFD75F-88AA-A259-9992-FB93CB1C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"/>
            <a:ext cx="9976338" cy="1295400"/>
          </a:xfrm>
        </p:spPr>
        <p:txBody>
          <a:bodyPr rtlCol="0"/>
          <a:lstStyle/>
          <a:p>
            <a:r>
              <a:rPr lang="tr-TR" dirty="0"/>
              <a:t>Sonuç ve kurumsal yol haritası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665B236-6A96-C63C-F84B-03A8E5142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1200" y="1981200"/>
            <a:ext cx="8692662" cy="4480560"/>
          </a:xfrm>
        </p:spPr>
        <p:txBody>
          <a:bodyPr rtlCol="0">
            <a:normAutofit/>
          </a:bodyPr>
          <a:lstStyle/>
          <a:p>
            <a:pPr lvl="0"/>
            <a:r>
              <a:rPr lang="tr-TR" b="1" dirty="0"/>
              <a:t>Kurumsal </a:t>
            </a:r>
            <a:r>
              <a:rPr lang="tr-TR" b="1" dirty="0" err="1"/>
              <a:t>Prompt</a:t>
            </a:r>
            <a:r>
              <a:rPr lang="tr-TR" b="1" dirty="0"/>
              <a:t> Library:</a:t>
            </a:r>
            <a:r>
              <a:rPr lang="tr-TR" dirty="0"/>
              <a:t> XML ve </a:t>
            </a:r>
            <a:r>
              <a:rPr lang="tr-TR" dirty="0" err="1"/>
              <a:t>CoT</a:t>
            </a:r>
            <a:r>
              <a:rPr lang="tr-TR" dirty="0"/>
              <a:t> şablonlarına dayalı standart kütüphane kurulmalı. </a:t>
            </a:r>
          </a:p>
          <a:p>
            <a:pPr lvl="0"/>
            <a:r>
              <a:rPr lang="tr-TR" b="1" dirty="0"/>
              <a:t>Pilot Entegrasyon:</a:t>
            </a:r>
            <a:r>
              <a:rPr lang="tr-TR" dirty="0"/>
              <a:t> Riski düşük </a:t>
            </a:r>
            <a:r>
              <a:rPr lang="tr-TR" dirty="0" err="1"/>
              <a:t>GitHub</a:t>
            </a:r>
            <a:r>
              <a:rPr lang="tr-TR" dirty="0"/>
              <a:t> veya Read-</a:t>
            </a:r>
            <a:r>
              <a:rPr lang="tr-TR" dirty="0" err="1"/>
              <a:t>Only</a:t>
            </a:r>
            <a:r>
              <a:rPr lang="tr-TR" dirty="0"/>
              <a:t> </a:t>
            </a:r>
            <a:r>
              <a:rPr lang="tr-TR" dirty="0" err="1"/>
              <a:t>PostgreSQL</a:t>
            </a:r>
            <a:r>
              <a:rPr lang="tr-TR" dirty="0"/>
              <a:t> MCP sunucuları yayına alınmalı.</a:t>
            </a:r>
          </a:p>
          <a:p>
            <a:pPr lvl="0"/>
            <a:r>
              <a:rPr lang="tr-TR" b="1" dirty="0" err="1"/>
              <a:t>Workflow</a:t>
            </a:r>
            <a:r>
              <a:rPr lang="tr-TR" b="1" dirty="0"/>
              <a:t> Pilot Uygulaması:</a:t>
            </a:r>
            <a:r>
              <a:rPr lang="tr-TR" dirty="0"/>
              <a:t> Müşteri kriz yönetimi ve PR inceleme akışları aşamalı olarak otomatize edilmeli</a:t>
            </a:r>
          </a:p>
        </p:txBody>
      </p:sp>
    </p:spTree>
    <p:extLst>
      <p:ext uri="{BB962C8B-B14F-4D97-AF65-F5344CB8AC3E}">
        <p14:creationId xmlns:p14="http://schemas.microsoft.com/office/powerpoint/2010/main" val="1572246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l Çerçeve Bina 16x9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04_TF03031027" id="{C6EDAF56-2CE2-4323-B306-807F38BA9621}" vid="{03D7AFE5-821E-4BDD-B240-A5B286715003}"/>
    </a:ext>
  </a:extLst>
</a:theme>
</file>

<file path=ppt/theme/theme2.xml><?xml version="1.0" encoding="utf-8"?>
<a:theme xmlns:a="http://schemas.openxmlformats.org/drawingml/2006/main" name="Office Teması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eması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30C5B9-1E5F-4356-968E-2FC64955BFF3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40262f94-9f35-4ac3-9a90-690165a166b7"/>
    <ds:schemaRef ds:uri="a4f35948-e619-41b3-aa29-22878b09cfd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E6DFB71-5650-4E53-8134-FCF33ECDD3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D6EEDF-527A-4587-A446-F1DE3EAF9D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İş tel çerçeve yapı sunusu (geniş ekran)</Template>
  <TotalTime>21</TotalTime>
  <Words>623</Words>
  <Application>Microsoft Office PowerPoint</Application>
  <PresentationFormat>Geniş ekran</PresentationFormat>
  <Paragraphs>53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2" baseType="lpstr">
      <vt:lpstr>Arial</vt:lpstr>
      <vt:lpstr>Calibri</vt:lpstr>
      <vt:lpstr>Tel Çerçeve Bina 16x9</vt:lpstr>
      <vt:lpstr>Claude Ekosistemi: Skill'ler, MCP, Prompt Teknikleri ve Workflow Tasarımları</vt:lpstr>
      <vt:lpstr>Amaç ve kapsam</vt:lpstr>
      <vt:lpstr>Claude Ekosistemi Temel Bileşenleri</vt:lpstr>
      <vt:lpstr>Prompt Teknikleri Karşılaştırma Testi </vt:lpstr>
      <vt:lpstr>Prompt Teknikleri Karşılaştırma Testi </vt:lpstr>
      <vt:lpstr>Önerilen Kurumsal MCP Entegrasyonları</vt:lpstr>
      <vt:lpstr>Kurumsal Workflow (İş Akışı) ÖrnekleRİ</vt:lpstr>
      <vt:lpstr>Güvenlik, KVKK ve Sonraki Adımlar</vt:lpstr>
      <vt:lpstr>Sonuç ve kurumsal yol haritası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Yeliz Nur KILIC</dc:creator>
  <cp:lastModifiedBy>Yeliz Nur KILIC</cp:lastModifiedBy>
  <cp:revision>3</cp:revision>
  <dcterms:created xsi:type="dcterms:W3CDTF">2026-07-30T10:27:15Z</dcterms:created>
  <dcterms:modified xsi:type="dcterms:W3CDTF">2026-07-30T15:56:23Z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